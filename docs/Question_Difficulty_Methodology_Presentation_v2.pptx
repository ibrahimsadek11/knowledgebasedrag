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440A0"/>
                </a:solidFill>
                <a:latin typeface="Calibri"/>
              </a:rPr>
              <a:t>How Question Difficulty Is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B6B6B"/>
                </a:solidFill>
                <a:latin typeface="Calibri"/>
              </a:rPr>
              <a:t>How difficulty is assigned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B6B6B"/>
                </a:solidFill>
                <a:latin typeface="Calibri"/>
              </a:rPr>
              <a:t>Tiers: easy  ·  medium  ·  hard  ·  very_hard  ·  extreme
Source: docs/difficulty_methodology.md  ·  Dataset v8.7: data/test_dataset.json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40A0"/>
                </a:solidFill>
                <a:latin typeface="Calibri"/>
              </a:rPr>
              <a:t>Why labels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They structure evaluation — they must stay stable when the model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11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99616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40A0"/>
                </a:solidFill>
                <a:latin typeface="Calibri"/>
              </a:rPr>
              <a:t>Fair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47088"/>
            <a:ext cx="3282696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Break down scores by difficulty tier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See if the system fails on hard hops,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aggregation, or synthesis — not just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overall average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11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499616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40A0"/>
                </a:solidFill>
                <a:latin typeface="Calibri"/>
              </a:rPr>
              <a:t>Comparable across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847088"/>
            <a:ext cx="3282696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Same labels for Graph, Tabular,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and Textual RAG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Difficulty is about the question,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not about one pipeline's quirks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611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499616"/>
            <a:ext cx="3282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40A0"/>
                </a:solidFill>
                <a:latin typeface="Calibri"/>
              </a:rPr>
              <a:t>Scientific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847088"/>
            <a:ext cx="3282696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Labels must not drift when we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swap LLMs or rewrite prompts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Difficulty is not model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40A0"/>
                </a:solidFill>
                <a:latin typeface="Calibri"/>
              </a:rPr>
              <a:t>Core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Difficulty = complexity of the real information need on the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What we measure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How hard it is to answer from the schema + facts — hops, aggregation, reasoning shape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What we do NOT use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Answer length or topic (sensors vs riders vs events are not harder by default)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Category tag alone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Generated Cypher ugliness (model phrasing is not question difficulty)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• Whether an LLM succeeded or failed on a given day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→ Labels are assigned by hand against the graph, then calibrated across same-shape siblings.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40A0"/>
                </a:solidFill>
                <a:latin typeface="Calibri"/>
              </a:rPr>
              <a:t>The three dials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Scored independently — final tier = ceiling (max) of the three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6576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53895"/>
            <a:ext cx="33284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40A0"/>
                </a:solidFill>
                <a:latin typeface="Calibri"/>
              </a:rPr>
              <a:t>1 · Hop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01368"/>
            <a:ext cx="3328416" cy="406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Traversals from anchor entity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to the answer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0 → property on known node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1 → one edge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2–3 → chained path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4+ with synthesis → extreme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Ex: Q2 race of Dakota = 0 hops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Ex: Q17 riders of Dakota = 1 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6576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453895"/>
            <a:ext cx="33284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40A0"/>
                </a:solidFill>
                <a:latin typeface="Calibri"/>
              </a:rPr>
              <a:t>2 · Aggregation / richness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801368"/>
            <a:ext cx="3328416" cy="406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How much calculation or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distribution is required?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None → single value / list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Flat COUNT of a class → easy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Grouped / mode → medium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Multi-bucket / nested → hard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Cross-dimensional → very_hard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Ex: Q19 how many riders = flat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Ex: Q8 duration buckets = compound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6576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453895"/>
            <a:ext cx="33284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40A0"/>
                </a:solidFill>
                <a:latin typeface="Calibri"/>
              </a:rPr>
              <a:t>3 · Reasoning 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801368"/>
            <a:ext cx="3328416" cy="406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What kind of thinking?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Direct lookup → easy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Uniformity check → medium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Diff / gap (one entity) → hard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Diff / gap (system-wide) → very_hard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Narrative synthesis (4+ relations)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→ extreme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Ex: Q26 event date = lookup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Ex: Q35 full event analysis =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40A0"/>
                </a:solidFill>
                <a:latin typeface="Calibri"/>
              </a:rPr>
              <a:t>Final tier = max(hop, aggregation, reasoning)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Rule of thumb for the five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868680"/>
          </a:xfrm>
          <a:prstGeom prst="rect">
            <a:avLst/>
          </a:prstGeom>
          <a:solidFill>
            <a:srgbClr val="DCEE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1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A3A3A"/>
                </a:solidFill>
                <a:latin typeface="Calibri"/>
              </a:rPr>
              <a:t>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417319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A3A3A"/>
                </a:solidFill>
                <a:latin typeface="Calibri"/>
              </a:rPr>
              <a:t>0 hops, no aggregation, direct lookup (incl. flat “how many X?”)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81328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Calibri"/>
              </a:rPr>
              <a:t>Q2 race of Dakota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247120" cy="868680"/>
          </a:xfrm>
          <a:prstGeom prst="rect">
            <a:avLst/>
          </a:prstGeom>
          <a:solidFill>
            <a:srgbClr val="9FCB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A3A3A"/>
                </a:solidFill>
                <a:latin typeface="Calibri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5000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A3A3A"/>
                </a:solidFill>
                <a:latin typeface="Calibri"/>
              </a:rPr>
              <a:t>1 hop, or simple aggregation / uniformity over one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14016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Calibri"/>
              </a:rPr>
              <a:t>Q17 riders of Dakota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45536"/>
            <a:ext cx="11247120" cy="868680"/>
          </a:xfrm>
          <a:prstGeom prst="rect">
            <a:avLst/>
          </a:prstGeom>
          <a:solidFill>
            <a:srgbClr val="5B9BD9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10128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8269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2–3 hops, compound aggregation, or entity-scoped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46704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Q8 prep-session durations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78224"/>
            <a:ext cx="11247120" cy="868680"/>
          </a:xfrm>
          <a:prstGeom prst="rect">
            <a:avLst/>
          </a:prstGeom>
          <a:solidFill>
            <a:srgbClr val="2C5F9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42816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very_hard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21538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Cross-dimensional compare, or system-wide gap / exception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79392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Q33 phase differences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10912"/>
            <a:ext cx="11247120" cy="868680"/>
          </a:xfrm>
          <a:prstGeom prst="rect">
            <a:avLst/>
          </a:prstGeom>
          <a:solidFill>
            <a:srgbClr val="144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755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extreme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14807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Full narrative synthesis across 4+ relation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21208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Q35 complete event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40A0"/>
                </a:solidFill>
                <a:latin typeface="Calibri"/>
              </a:rPr>
              <a:t>Worked example — applying the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Q33: differences between prep and pre-competition (frequency, intensity, duration)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Hop count → multi-entity comparison across phases  → tends high, but not the driver alone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Aggregation → cross-dimensional (3 metrics × 2 phases)  → very_hard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Reasoning → structured comparison, not pure lookup  → very_hard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Final label = max(...) = very_hard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Contrast: Q19 “How many riders?” has aggregation, but only flat cardinality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A3A3A"/>
                </a:solidFill>
                <a:latin typeface="Calibri"/>
              </a:rPr>
              <a:t>→ contributes easy, not medium. Size of the set does not raise the tier by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40A0"/>
                </a:solidFill>
                <a:latin typeface="Calibri"/>
              </a:rPr>
              <a:t>Calibration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Same real shape ⇒ same label — regardless of topic or category 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During the audit, topic-based intuition had mislabeled several questions. Examples of fixes: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• Global MAX / mode: Q16 &amp; Q50 (highest sampling rate) were hard, but same shape as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  Q41 (most common race) and Q45 (rider with most horses) → corrected to medium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• 0-hop property reads: Q29 / Q30 (event category) were medium; same as Q26–Q28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  (date / location) → corrected to easy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• Same fact, two phrasings: Q55 vs Q90 (recovery duration + exceptions) → both medium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Every correction was checked against at least one same-shape sibling.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40A0"/>
                </a:solidFill>
                <a:latin typeface="Calibri"/>
              </a:rPr>
              <a:t>Deliberately excluded from the rubric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91056"/>
            <a:ext cx="47914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40A0"/>
                </a:solidFill>
                <a:latin typeface="Calibri"/>
              </a:rPr>
              <a:t>Generated Cypher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4791455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A long or messy query from the LLM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measures model phrasing, not the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question's intrinsic difficulty.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Easy questions can yield ugly Cypher;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hard ones can be answered tersely.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91056"/>
            <a:ext cx="479145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40A0"/>
                </a:solidFill>
                <a:latin typeface="Calibri"/>
              </a:rPr>
              <a:t>Model success /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38528"/>
            <a:ext cx="4791455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Whether GPT/Claude got it right that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day is a property of the model run.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Using it would make labels drift every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time the model or prompt changes.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Difficulty must stay fixed for science.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40A0"/>
                </a:solidFill>
                <a:latin typeface="Calibri"/>
              </a:rPr>
              <a:t>How labels were validated — and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Dual-pass audit against two views of the same canonical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53895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40A0"/>
                </a:solidFill>
                <a:latin typeface="Calibri"/>
              </a:rPr>
              <a:t>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01368"/>
            <a:ext cx="51572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Pass 1 — Neo4j table exports (JSON)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Pass 2 — RDF serialization of same export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Disagreements resolved by explicit graph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reasoning — not by defaulting to one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53895"/>
            <a:ext cx="5157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40A0"/>
                </a:solidFill>
                <a:latin typeface="Calibri"/>
              </a:rPr>
              <a:t>Impact (not ceremonial)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572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Two-pass audit: 19 difficulty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labels changed; ground truths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corrected across both passes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(e.g. Q34, Q51, Q91)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Examples of content fixes caught by the audit: Q34 (24 of 25 riders, not 25 — contradicted Q22);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A3A3A"/>
                </a:solidFill>
                <a:latin typeface="Calibri"/>
              </a:rPr>
              <a:t>Q51 (canon-postérieur calibration offsets swapped). Calibration, not ceremony.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40A0"/>
                </a:solidFill>
                <a:latin typeface="Calibri"/>
              </a:rPr>
              <a:t>Payoff — labels predict retrieval hardness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Graph retrieval eval (2026-06-24): score falls monotonically Easy → Very-Hard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48840" cy="1965960"/>
          </a:xfrm>
          <a:prstGeom prst="rect">
            <a:avLst/>
          </a:prstGeom>
          <a:solidFill>
            <a:srgbClr val="DCEE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A3A3A"/>
                </a:solidFill>
                <a:latin typeface="Calibri"/>
              </a:rPr>
              <a:t>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A3A3A"/>
                </a:solidFill>
                <a:latin typeface="Calibri"/>
              </a:rPr>
              <a:t>0.929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n=14*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371600"/>
            <a:ext cx="2148840" cy="1965960"/>
          </a:xfrm>
          <a:prstGeom prst="rect">
            <a:avLst/>
          </a:prstGeom>
          <a:solidFill>
            <a:srgbClr val="9FCB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5087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A3A3A"/>
                </a:solidFill>
                <a:latin typeface="Calibri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A3A3A"/>
                </a:solidFill>
                <a:latin typeface="Calibri"/>
              </a:rPr>
              <a:t>0.849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0604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n=48*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71600"/>
            <a:ext cx="2148840" cy="1965960"/>
          </a:xfrm>
          <a:prstGeom prst="rect">
            <a:avLst/>
          </a:prstGeom>
          <a:solidFill>
            <a:srgbClr val="5B9BD9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087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0.802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0604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n=29*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371600"/>
            <a:ext cx="2148840" cy="1965960"/>
          </a:xfrm>
          <a:prstGeom prst="rect">
            <a:avLst/>
          </a:prstGeom>
          <a:solidFill>
            <a:srgbClr val="2C5F9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5087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very_hard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0.438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60604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n=8*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371600"/>
            <a:ext cx="2148840" cy="1965960"/>
          </a:xfrm>
          <a:prstGeom prst="rect">
            <a:avLst/>
          </a:prstGeom>
          <a:solidFill>
            <a:srgbClr val="144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5087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extreme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60604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n=1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So what? Performance degrades with our tiers — the labels are meaningful, not decorative.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Caveat on extreme: n=1 (Q35). The 1.00 score is anecdotal — kept for coverage, not statistics.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Do not treat extreme as a validated band; the evidentiary claim is Easy → Very-Hard.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*Counts reflect the label distribution at that retrieval run (pre–v8.7 recalibration).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Source: evaluation_results/graph_rag/retrieval_eval_20260624_030926.json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40A0"/>
                </a:solidFill>
                <a:latin typeface="Calibri"/>
              </a:rPr>
              <a:t>Benchmark distribution (v8.7)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data/test_dataset.json — 100 questions after audit recalibration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103120" cy="1234440"/>
          </a:xfrm>
          <a:prstGeom prst="rect">
            <a:avLst/>
          </a:prstGeom>
          <a:solidFill>
            <a:srgbClr val="DCEE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A3A3A"/>
                </a:solidFill>
                <a:latin typeface="Calibri"/>
              </a:rPr>
              <a:t>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A3A3A"/>
                </a:solidFill>
                <a:latin typeface="Calibr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2103120" cy="1234440"/>
          </a:xfrm>
          <a:prstGeom prst="rect">
            <a:avLst/>
          </a:prstGeom>
          <a:solidFill>
            <a:srgbClr val="9FCB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41732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A3A3A"/>
                </a:solidFill>
                <a:latin typeface="Calibri"/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288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A3A3A"/>
                </a:solidFill>
                <a:latin typeface="Calibri"/>
              </a:rPr>
              <a:t>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325880"/>
            <a:ext cx="2103120" cy="1234440"/>
          </a:xfrm>
          <a:prstGeom prst="rect">
            <a:avLst/>
          </a:prstGeom>
          <a:solidFill>
            <a:srgbClr val="5B9BD9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41732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8288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325880"/>
            <a:ext cx="2103120" cy="1234440"/>
          </a:xfrm>
          <a:prstGeom prst="rect">
            <a:avLst/>
          </a:prstGeom>
          <a:solidFill>
            <a:srgbClr val="2C5F9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41732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very_hard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8288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1325880"/>
            <a:ext cx="2103120" cy="1234440"/>
          </a:xfrm>
          <a:prstGeom prst="rect">
            <a:avLst/>
          </a:prstGeom>
          <a:solidFill>
            <a:srgbClr val="144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141732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extreme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18288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346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Extreme remains n=1 — present for coverage of narrative synthesis; not a statistical band.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Takeaways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1. Difficulty is intrinsic to the question's graph information need — not to model behavior.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2. Three dials (hops, aggregation, reasoning); final label = ceiling.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3. Same shape → same tier; dual-pass audit changed 19 labels; retrieval falls Easy→Very-Hard.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40A0"/>
                </a:solidFill>
                <a:latin typeface="Calibri"/>
              </a:rPr>
              <a:t>Appendix — difficulty ×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Built from docs/difficulty_breakdown_v8.7.csv  ·  amber marks data_quality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234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440A0"/>
                </a:solidFill>
                <a:latin typeface="Calibri"/>
              </a:rPr>
              <a:t>tier \ cat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aggr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93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621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attr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994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822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comp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195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0237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consist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3960" y="1234440"/>
            <a:ext cx="842010" cy="502920"/>
          </a:xfrm>
          <a:prstGeom prst="rect">
            <a:avLst/>
          </a:prstGeom>
          <a:solidFill>
            <a:srgbClr val="D98E2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224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data_q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597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425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hier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798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626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mhop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3999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827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mhop+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200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028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schema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2401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229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simple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6602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8430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1hop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08030" y="1234440"/>
            <a:ext cx="84201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26318" y="1307592"/>
            <a:ext cx="80543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440A0"/>
                </a:solidFill>
                <a:latin typeface="Calibri"/>
              </a:rPr>
              <a:t>unans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1737360"/>
            <a:ext cx="1234440" cy="658368"/>
          </a:xfrm>
          <a:prstGeom prst="rect">
            <a:avLst/>
          </a:prstGeom>
          <a:solidFill>
            <a:srgbClr val="DCEE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193852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3A3A"/>
                </a:solidFill>
                <a:latin typeface="Calibri"/>
              </a:rPr>
              <a:t>easy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8793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8793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2994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994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7195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7195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1396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1396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597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597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9798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9798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3999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3999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8200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8200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2401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2401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6602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6602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08030" y="1737360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08030" y="1920240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2395728"/>
            <a:ext cx="1234440" cy="658368"/>
          </a:xfrm>
          <a:prstGeom prst="rect">
            <a:avLst/>
          </a:prstGeom>
          <a:solidFill>
            <a:srgbClr val="9FCB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2596896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3A3A"/>
                </a:solidFill>
                <a:latin typeface="Calibri"/>
              </a:rPr>
              <a:t>medium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4592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8793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8793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2994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2994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7195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7195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13960" y="2395728"/>
            <a:ext cx="842010" cy="658368"/>
          </a:xfrm>
          <a:prstGeom prst="rect">
            <a:avLst/>
          </a:prstGeom>
          <a:solidFill>
            <a:srgbClr val="D98E2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1396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5597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5597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9798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9798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3999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3999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8200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8200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2401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2401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6602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6602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08030" y="2395728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908030" y="2578608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3054096"/>
            <a:ext cx="1234440" cy="658368"/>
          </a:xfrm>
          <a:prstGeom prst="rect">
            <a:avLst/>
          </a:prstGeom>
          <a:solidFill>
            <a:srgbClr val="5B9BD9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3255264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hard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4592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4592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8793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48793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2994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2994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7195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7195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13960" y="3054096"/>
            <a:ext cx="842010" cy="658368"/>
          </a:xfrm>
          <a:prstGeom prst="rect">
            <a:avLst/>
          </a:prstGeom>
          <a:solidFill>
            <a:srgbClr val="D98E2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1396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5597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5597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9798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69798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999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3999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8200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8200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2401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2401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6602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6602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908030" y="3054096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908030" y="3236976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1480" y="3712464"/>
            <a:ext cx="1234440" cy="658368"/>
          </a:xfrm>
          <a:prstGeom prst="rect">
            <a:avLst/>
          </a:prstGeom>
          <a:solidFill>
            <a:srgbClr val="2C5F9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7200" y="3913632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very_hard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4592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4592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48793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48793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32994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32994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7195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7195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13960" y="3712464"/>
            <a:ext cx="842010" cy="658368"/>
          </a:xfrm>
          <a:prstGeom prst="rect">
            <a:avLst/>
          </a:prstGeom>
          <a:solidFill>
            <a:srgbClr val="D98E2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1396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85597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85597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69798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69798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53999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53999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38200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38200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22401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22401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06602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06602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908030" y="3712464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908030" y="3895344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11480" y="4370832"/>
            <a:ext cx="1234440" cy="658368"/>
          </a:xfrm>
          <a:prstGeom prst="rect">
            <a:avLst/>
          </a:prstGeom>
          <a:solidFill>
            <a:srgbClr val="1440A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7200" y="4572000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extreme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4592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64592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48793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48793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32994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32994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17195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17195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01396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01396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85597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85597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69798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69798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3999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3999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A3A3A"/>
                </a:solidFill>
                <a:latin typeface="Calibri"/>
              </a:rPr>
              <a:t>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38200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38200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22401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22401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06602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06602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908030" y="4370832"/>
            <a:ext cx="84201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908030" y="4553712"/>
            <a:ext cx="8420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8E2B"/>
                </a:solidFill>
                <a:latin typeface="Calibri"/>
              </a:rPr>
              <a:t>Callout: Very-Hard is 6/7 data_quality questions (Q56, Q57, Q62, Q65, Q67, Q94 are data_quality; Q33 is comparison).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Calibri"/>
              </a:rPr>
              <a:t>KnowledgeBasedRAG  ·  Question Difficulty Methodology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607040" y="64922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