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0"/>
            <a:ext cx="4693615" cy="6858000"/>
          </a:xfrm>
          <a:prstGeom prst="rect">
            <a:avLst/>
          </a:prstGeom>
          <a:solidFill>
            <a:srgbClr val="0E2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955279" y="1463040"/>
            <a:ext cx="3749039" cy="685800"/>
          </a:xfrm>
          <a:prstGeom prst="roundRect">
            <a:avLst/>
          </a:prstGeom>
          <a:solidFill>
            <a:srgbClr val="DC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62763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F343D"/>
                </a:solidFill>
                <a:latin typeface="Georgia"/>
              </a:rPr>
              <a:t>easy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331720"/>
            <a:ext cx="3749039" cy="685800"/>
          </a:xfrm>
          <a:prstGeom prst="roundRect">
            <a:avLst/>
          </a:prstGeom>
          <a:solidFill>
            <a:srgbClr val="9FC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49631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F343D"/>
                </a:solidFill>
                <a:latin typeface="Georgia"/>
              </a:rPr>
              <a:t>medium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200400"/>
            <a:ext cx="3749039" cy="685800"/>
          </a:xfrm>
          <a:prstGeom prst="roundRect">
            <a:avLst/>
          </a:prstGeom>
          <a:solidFill>
            <a:srgbClr val="5B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33649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hard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4069080"/>
            <a:ext cx="3749039" cy="68580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42336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very_hard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937760"/>
            <a:ext cx="3749039" cy="685800"/>
          </a:xfrm>
          <a:prstGeom prst="round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51023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extreme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92024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Georgia"/>
              </a:rPr>
              <a:t>How difficulty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8036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Georgia"/>
              </a:rPr>
              <a:t>is assigned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148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8D8F0"/>
                </a:solidFill>
                <a:latin typeface="Calibri"/>
              </a:rPr>
              <a:t>A schema-based rubric for the 100-question RAG benchmark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43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8BCE0"/>
                </a:solidFill>
                <a:latin typeface="Calibri"/>
              </a:rPr>
              <a:t>KnowledgeBasedRAG  ·  v8.7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440A0"/>
                </a:solidFill>
                <a:latin typeface="Georgia"/>
              </a:rPr>
              <a:t>Why it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520440" cy="402336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1828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440A0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651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F343D"/>
                </a:solidFill>
                <a:latin typeface="Georgia"/>
              </a:rPr>
              <a:t>Fair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33832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A7380"/>
                </a:solidFill>
                <a:latin typeface="Calibri"/>
              </a:rPr>
              <a:t>Scores broken down by tier —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A7380"/>
                </a:solidFill>
                <a:latin typeface="Calibri"/>
              </a:rPr>
              <a:t>not one opaque average.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520440" cy="402336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1828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440A0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2651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F343D"/>
                </a:solidFill>
                <a:latin typeface="Georgia"/>
              </a:rPr>
              <a:t>Comparable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33832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A7380"/>
                </a:solidFill>
                <a:latin typeface="Calibri"/>
              </a:rPr>
              <a:t>Same labels for Graph, Tabular,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A7380"/>
                </a:solidFill>
                <a:latin typeface="Calibri"/>
              </a:rPr>
              <a:t>and Textual RAG.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463040"/>
            <a:ext cx="3520440" cy="402336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199" y="1828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440A0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199" y="2651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F343D"/>
                </a:solidFill>
                <a:latin typeface="Georgia"/>
              </a:rPr>
              <a:t>Stable science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199" y="33832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A7380"/>
                </a:solidFill>
                <a:latin typeface="Calibri"/>
              </a:rPr>
              <a:t>Labels do not drift when the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A7380"/>
                </a:solidFill>
                <a:latin typeface="Calibri"/>
              </a:rPr>
              <a:t>model or prompt changes.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A7380"/>
                </a:solidFill>
                <a:latin typeface="Calibri"/>
              </a:rPr>
              <a:t>Difficulty methodology  ·  design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53796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A7380"/>
                </a:solidFill>
                <a:latin typeface="Calibri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6A7380"/>
                </a:solidFill>
                <a:latin typeface="Calibri"/>
              </a:rPr>
              <a:t>Core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440A0"/>
                </a:solidFill>
                <a:latin typeface="Georgia"/>
              </a:rPr>
              <a:t>Difficulty measures the information need
on the knowledge graph — nothing else.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89120"/>
            <a:ext cx="3383280" cy="777240"/>
          </a:xfrm>
          <a:prstGeom prst="roundRect">
            <a:avLst/>
          </a:prstGeom>
          <a:solidFill>
            <a:srgbClr val="DC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4572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F343D"/>
                </a:solidFill>
                <a:latin typeface="Calibri"/>
              </a:rPr>
              <a:t>Not the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389120"/>
            <a:ext cx="3383280" cy="777240"/>
          </a:xfrm>
          <a:prstGeom prst="roundRect">
            <a:avLst/>
          </a:prstGeom>
          <a:solidFill>
            <a:srgbClr val="DC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4572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F343D"/>
                </a:solidFill>
                <a:latin typeface="Calibri"/>
              </a:rPr>
              <a:t>Not Cypher messiness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389120"/>
            <a:ext cx="3383280" cy="777240"/>
          </a:xfrm>
          <a:prstGeom prst="roundRect">
            <a:avLst/>
          </a:prstGeom>
          <a:solidFill>
            <a:srgbClr val="DC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4572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F343D"/>
                </a:solidFill>
                <a:latin typeface="Calibri"/>
              </a:rPr>
              <a:t>Not LLM success /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A7380"/>
                </a:solidFill>
                <a:latin typeface="Calibri"/>
              </a:rPr>
              <a:t>Difficulty methodology  ·  design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53796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A7380"/>
                </a:solidFill>
                <a:latin typeface="Calibri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40A0"/>
                </a:solidFill>
                <a:latin typeface="Georgia"/>
              </a:rPr>
              <a:t>Three dials  →  final tier = ceiling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3520440" cy="109728"/>
          </a:xfrm>
          <a:prstGeom prst="rect">
            <a:avLst/>
          </a:prstGeom>
          <a:solidFill>
            <a:srgbClr val="9FC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520440" cy="429768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440A0"/>
                </a:solidFill>
                <a:latin typeface="Georgia"/>
              </a:rPr>
              <a:t>Hop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2971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F343D"/>
                </a:solidFill>
                <a:latin typeface="Calibri"/>
              </a:rPr>
              <a:t>0 property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08960"/>
            <a:ext cx="2971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F343D"/>
                </a:solidFill>
                <a:latin typeface="Calibri"/>
              </a:rPr>
              <a:t>1 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40480"/>
            <a:ext cx="2971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77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F343D"/>
                </a:solidFill>
                <a:latin typeface="Calibri"/>
              </a:rPr>
              <a:t>2–3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572000"/>
            <a:ext cx="2971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F343D"/>
                </a:solidFill>
                <a:latin typeface="Calibri"/>
              </a:rPr>
              <a:t>4+ + synthesis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1188720"/>
            <a:ext cx="3520440" cy="109728"/>
          </a:xfrm>
          <a:prstGeom prst="rect">
            <a:avLst/>
          </a:prstGeom>
          <a:solidFill>
            <a:srgbClr val="5B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4840" y="1371600"/>
            <a:ext cx="3520440" cy="429768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16459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440A0"/>
                </a:solidFill>
                <a:latin typeface="Georgia"/>
              </a:rPr>
              <a:t>Aggregation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2377440"/>
            <a:ext cx="2971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F343D"/>
                </a:solidFill>
                <a:latin typeface="Calibri"/>
              </a:rPr>
              <a:t>None / flat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3108960"/>
            <a:ext cx="2971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F343D"/>
                </a:solidFill>
                <a:latin typeface="Calibri"/>
              </a:rPr>
              <a:t>Grouped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3840480"/>
            <a:ext cx="2971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977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F343D"/>
                </a:solidFill>
                <a:latin typeface="Calibri"/>
              </a:rPr>
              <a:t>Compound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4572000"/>
            <a:ext cx="2971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F343D"/>
                </a:solidFill>
                <a:latin typeface="Calibri"/>
              </a:rPr>
              <a:t>Cross-dim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188720"/>
            <a:ext cx="3520440" cy="10972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0" y="1371600"/>
            <a:ext cx="3520440" cy="429768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16459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440A0"/>
                </a:solidFill>
                <a:latin typeface="Georgia"/>
              </a:rPr>
              <a:t>Reasoning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2377440"/>
            <a:ext cx="2971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F343D"/>
                </a:solidFill>
                <a:latin typeface="Calibri"/>
              </a:rPr>
              <a:t>Lookup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3108960"/>
            <a:ext cx="2971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4108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F343D"/>
                </a:solidFill>
                <a:latin typeface="Calibri"/>
              </a:rPr>
              <a:t>Uniformity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3840480"/>
            <a:ext cx="2971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80" y="3977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F343D"/>
                </a:solidFill>
                <a:latin typeface="Calibri"/>
              </a:rPr>
              <a:t>Diff / gap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4572000"/>
            <a:ext cx="2971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108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F343D"/>
                </a:solidFill>
                <a:latin typeface="Calibri"/>
              </a:rPr>
              <a:t>Narrative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A7380"/>
                </a:solidFill>
                <a:latin typeface="Calibri"/>
              </a:rPr>
              <a:t>Difficulty methodology  ·  design showcase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53796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A7380"/>
                </a:solidFill>
                <a:latin typeface="Calibri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40A0"/>
                </a:solidFill>
                <a:latin typeface="Georgia"/>
              </a:rPr>
              <a:t>Five tiers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10881360" cy="868680"/>
          </a:xfrm>
          <a:prstGeom prst="roundRect">
            <a:avLst/>
          </a:prstGeom>
          <a:solidFill>
            <a:srgbClr val="DC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527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F343D"/>
                </a:solidFill>
                <a:latin typeface="Georgia"/>
              </a:rPr>
              <a:t>easy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0759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F343D"/>
                </a:solidFill>
                <a:latin typeface="Calibri"/>
              </a:rPr>
              <a:t>Q2 — race of Dakota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39112"/>
            <a:ext cx="10881360" cy="868680"/>
          </a:xfrm>
          <a:prstGeom prst="roundRect">
            <a:avLst/>
          </a:prstGeom>
          <a:solidFill>
            <a:srgbClr val="9FC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F343D"/>
                </a:solidFill>
                <a:latin typeface="Georgia"/>
              </a:rPr>
              <a:t>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95144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F343D"/>
                </a:solidFill>
                <a:latin typeface="Calibri"/>
              </a:rPr>
              <a:t>Q17 — riders of Dakota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26664"/>
            <a:ext cx="10881360" cy="868680"/>
          </a:xfrm>
          <a:prstGeom prst="roundRect">
            <a:avLst/>
          </a:prstGeom>
          <a:solidFill>
            <a:srgbClr val="5B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27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hard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28269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Q8 — prep durations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14216"/>
            <a:ext cx="10881360" cy="86868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1538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very_hard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27024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Q33 — phase differences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01768"/>
            <a:ext cx="10881360" cy="868680"/>
          </a:xfrm>
          <a:prstGeom prst="round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0293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extreme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257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Q35 — full event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A7380"/>
                </a:solidFill>
                <a:latin typeface="Calibri"/>
              </a:rPr>
              <a:t>Difficulty methodology  ·  design showcase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53796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A7380"/>
                </a:solidFill>
                <a:latin typeface="Calibri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6A7380"/>
                </a:solidFill>
                <a:latin typeface="Calibri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40A0"/>
                </a:solidFill>
                <a:latin typeface="Georgia"/>
              </a:rPr>
              <a:t>Q33  ·  prep vs pre-competition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383280" cy="219456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A7380"/>
                </a:solidFill>
                <a:latin typeface="Calibri"/>
              </a:rPr>
              <a:t>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343D"/>
                </a:solidFill>
                <a:latin typeface="Georgia"/>
              </a:rPr>
              <a:t>multi-entity phases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40A0"/>
                </a:solidFill>
                <a:latin typeface="Calibri"/>
              </a:rPr>
              <a:t>→ 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383280" cy="219456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57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A7380"/>
                </a:solidFill>
                <a:latin typeface="Calibri"/>
              </a:rPr>
              <a:t>Aggregation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14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343D"/>
                </a:solidFill>
                <a:latin typeface="Georgia"/>
              </a:rPr>
              <a:t>3 metrics × 2 phases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40A0"/>
                </a:solidFill>
                <a:latin typeface="Calibri"/>
              </a:rPr>
              <a:t>→ very_hard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219456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57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A7380"/>
                </a:solidFill>
                <a:latin typeface="Calibri"/>
              </a:rPr>
              <a:t>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14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343D"/>
                </a:solidFill>
                <a:latin typeface="Georgia"/>
              </a:rPr>
              <a:t>structured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40A0"/>
                </a:solidFill>
                <a:latin typeface="Calibri"/>
              </a:rPr>
              <a:t>→ very_hard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89120"/>
            <a:ext cx="10881360" cy="137160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09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ceiling  =  very_hard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D0E0F5"/>
                </a:solidFill>
                <a:latin typeface="Calibri"/>
              </a:rPr>
              <a:t>max(hop, aggregation, reasoning)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A7380"/>
                </a:solidFill>
                <a:latin typeface="Calibri"/>
              </a:rPr>
              <a:t>Difficulty methodology  ·  design showcase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53796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A7380"/>
                </a:solidFill>
                <a:latin typeface="Calibri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40A0"/>
                </a:solidFill>
                <a:latin typeface="Georgia"/>
              </a:rPr>
              <a:t>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A7380"/>
                </a:solidFill>
                <a:latin typeface="Calibri"/>
              </a:rPr>
              <a:t>Retrieval falls with your tiers  ·  Easy → Very-Hard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F343D"/>
                </a:solidFill>
                <a:latin typeface="Calibri"/>
              </a:rPr>
              <a:t>easy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417320"/>
            <a:ext cx="7220559" cy="640080"/>
          </a:xfrm>
          <a:prstGeom prst="roundRect">
            <a:avLst/>
          </a:prstGeom>
          <a:solidFill>
            <a:srgbClr val="DC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F343D"/>
                </a:solidFill>
                <a:latin typeface="Calibri"/>
              </a:rPr>
              <a:t>0.929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500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F343D"/>
                </a:solidFill>
                <a:latin typeface="Calibri"/>
              </a:rPr>
              <a:t>medium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240280"/>
            <a:ext cx="6598767" cy="640080"/>
          </a:xfrm>
          <a:prstGeom prst="roundRect">
            <a:avLst/>
          </a:prstGeom>
          <a:solidFill>
            <a:srgbClr val="9FC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F343D"/>
                </a:solidFill>
                <a:latin typeface="Calibri"/>
              </a:rPr>
              <a:t>0.849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729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F343D"/>
                </a:solidFill>
                <a:latin typeface="Calibri"/>
              </a:rPr>
              <a:t>hard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063240"/>
            <a:ext cx="6233464" cy="640080"/>
          </a:xfrm>
          <a:prstGeom prst="roundRect">
            <a:avLst/>
          </a:prstGeom>
          <a:solidFill>
            <a:srgbClr val="5B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0.802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959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F343D"/>
                </a:solidFill>
                <a:latin typeface="Calibri"/>
              </a:rPr>
              <a:t>very_hard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3886200"/>
            <a:ext cx="3404311" cy="640080"/>
          </a:xfrm>
          <a:prstGeom prst="round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0.438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188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F343D"/>
                </a:solidFill>
                <a:latin typeface="Calibri"/>
              </a:rPr>
              <a:t>extreme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4709160"/>
            <a:ext cx="7772400" cy="640080"/>
          </a:xfrm>
          <a:prstGeom prst="round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1.00  n=1*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A7380"/>
                </a:solidFill>
                <a:latin typeface="Calibri"/>
              </a:rPr>
              <a:t>*Extreme is anecdotal (n=1). Evidentiary claim is Easy → Very-Hard.  Source: retrieval_eval_20260624.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A7380"/>
                </a:solidFill>
                <a:latin typeface="Calibri"/>
              </a:rPr>
              <a:t>Difficulty methodology  ·  design showcase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53796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A7380"/>
                </a:solidFill>
                <a:latin typeface="Calibri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40A0"/>
                </a:solidFill>
                <a:latin typeface="Georgia"/>
              </a:rPr>
              <a:t>v8.7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922068" cy="1280160"/>
          </a:xfrm>
          <a:prstGeom prst="rect">
            <a:avLst/>
          </a:prstGeom>
          <a:solidFill>
            <a:srgbClr val="DC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554480"/>
            <a:ext cx="17757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2F343D"/>
                </a:solidFill>
                <a:latin typeface="Georgia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8724" y="1188720"/>
            <a:ext cx="5404104" cy="1280160"/>
          </a:xfrm>
          <a:prstGeom prst="rect">
            <a:avLst/>
          </a:prstGeom>
          <a:solidFill>
            <a:srgbClr val="9FC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0164" y="155448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2F343D"/>
                </a:solidFill>
                <a:latin typeface="Georgia"/>
              </a:rPr>
              <a:t>50</a:t>
            </a:r>
          </a:p>
        </p:txBody>
      </p:sp>
      <p:sp>
        <p:nvSpPr>
          <p:cNvPr id="9" name="Rectangle 8"/>
          <p:cNvSpPr/>
          <p:nvPr/>
        </p:nvSpPr>
        <p:spPr>
          <a:xfrm>
            <a:off x="8039404" y="1188720"/>
            <a:ext cx="2574950" cy="1280160"/>
          </a:xfrm>
          <a:prstGeom prst="rect">
            <a:avLst/>
          </a:prstGeom>
          <a:solidFill>
            <a:srgbClr val="5B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0844" y="1554480"/>
            <a:ext cx="242864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50931" y="1188720"/>
            <a:ext cx="725119" cy="1280160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12626" y="1188720"/>
            <a:ext cx="72237" cy="1280160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834640"/>
            <a:ext cx="2011680" cy="137160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40"/>
            <a:ext cx="2011680" cy="109728"/>
          </a:xfrm>
          <a:prstGeom prst="rect">
            <a:avLst/>
          </a:prstGeom>
          <a:solidFill>
            <a:srgbClr val="DC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6A7380"/>
                </a:solidFill>
                <a:latin typeface="Calibri"/>
              </a:rPr>
              <a:t>easy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20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1440A0"/>
                </a:solidFill>
                <a:latin typeface="Georgia"/>
              </a:rPr>
              <a:t>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39" y="2834640"/>
            <a:ext cx="2011680" cy="137160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34639" y="2834640"/>
            <a:ext cx="2011680" cy="109728"/>
          </a:xfrm>
          <a:prstGeom prst="rect">
            <a:avLst/>
          </a:prstGeom>
          <a:solidFill>
            <a:srgbClr val="9FC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799" y="3154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6A7380"/>
                </a:solidFill>
                <a:latin typeface="Calibri"/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799" y="3520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1440A0"/>
                </a:solidFill>
                <a:latin typeface="Georgia"/>
              </a:rPr>
              <a:t>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834640"/>
            <a:ext cx="2011680" cy="137160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2834640"/>
            <a:ext cx="2011680" cy="109728"/>
          </a:xfrm>
          <a:prstGeom prst="rect">
            <a:avLst/>
          </a:prstGeom>
          <a:solidFill>
            <a:srgbClr val="5B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3154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6A7380"/>
                </a:solidFill>
                <a:latin typeface="Calibri"/>
              </a:rPr>
              <a:t>hard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520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1440A0"/>
                </a:solidFill>
                <a:latin typeface="Georgia"/>
              </a:rPr>
              <a:t>24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2834640"/>
            <a:ext cx="2011680" cy="137160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23760" y="2834640"/>
            <a:ext cx="2011680" cy="10972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20" y="3154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6A7380"/>
                </a:solidFill>
                <a:latin typeface="Calibri"/>
              </a:rPr>
              <a:t>very_hard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520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1440A0"/>
                </a:solidFill>
                <a:latin typeface="Georgia"/>
              </a:rPr>
              <a:t>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20" y="2834640"/>
            <a:ext cx="2011680" cy="1371600"/>
          </a:xfrm>
          <a:prstGeom prst="round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20" y="2834640"/>
            <a:ext cx="2011680" cy="109728"/>
          </a:xfrm>
          <a:prstGeom prst="rect">
            <a:avLst/>
          </a:prstGeom>
          <a:solidFill>
            <a:srgbClr val="14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3154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6A7380"/>
                </a:solidFill>
                <a:latin typeface="Calibri"/>
              </a:rPr>
              <a:t>extreme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3520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1440A0"/>
                </a:solidFill>
                <a:latin typeface="Georgia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5720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F343D"/>
                </a:solidFill>
                <a:latin typeface="Calibri"/>
              </a:rPr>
              <a:t>Takeaway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F343D"/>
                </a:solidFill>
                <a:latin typeface="Calibri"/>
              </a:rPr>
              <a:t>Three dials. Ceiling rule. Same shape → same label.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F343D"/>
                </a:solidFill>
                <a:latin typeface="Calibri"/>
              </a:rPr>
              <a:t>Retrieval degrades Easy → Very-Hard. Extreme stays n=1 for coverage.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A7380"/>
                </a:solidFill>
                <a:latin typeface="Calibri"/>
              </a:rPr>
              <a:t>Difficulty methodology  ·  design showcase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53796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A7380"/>
                </a:solidFill>
                <a:latin typeface="Calibri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